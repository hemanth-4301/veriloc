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Raleway Bold" charset="1" panose="00000000000000000000"/>
      <p:regular r:id="rId24"/>
    </p:embeddedFont>
    <p:embeddedFont>
      <p:font typeface="Montserrat Bold" charset="1" panose="00000800000000000000"/>
      <p:regular r:id="rId25"/>
    </p:embeddedFont>
    <p:embeddedFont>
      <p:font typeface="Raleway Heavy" charset="1" panose="00000000000000000000"/>
      <p:regular r:id="rId26"/>
    </p:embeddedFont>
    <p:embeddedFont>
      <p:font typeface="Raleway" charset="1" panose="00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ithub.com/Hemanth-4301/veriloc.git" TargetMode="External" Type="http://schemas.openxmlformats.org/officeDocument/2006/relationships/hyperlink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2283244">
            <a:off x="-4686780" y="5257766"/>
            <a:ext cx="10358005" cy="10410055"/>
          </a:xfrm>
          <a:custGeom>
            <a:avLst/>
            <a:gdLst/>
            <a:ahLst/>
            <a:cxnLst/>
            <a:rect r="r" b="b" t="t" l="l"/>
            <a:pathLst>
              <a:path h="10410055" w="10358005">
                <a:moveTo>
                  <a:pt x="10358005" y="0"/>
                </a:moveTo>
                <a:lnTo>
                  <a:pt x="0" y="0"/>
                </a:lnTo>
                <a:lnTo>
                  <a:pt x="0" y="10410055"/>
                </a:lnTo>
                <a:lnTo>
                  <a:pt x="10358005" y="10410055"/>
                </a:lnTo>
                <a:lnTo>
                  <a:pt x="10358005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30741" y="-10904054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544609" y="1570190"/>
            <a:ext cx="4220884" cy="422088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90600" y="203326"/>
            <a:ext cx="1563749" cy="1688849"/>
          </a:xfrm>
          <a:custGeom>
            <a:avLst/>
            <a:gdLst/>
            <a:ahLst/>
            <a:cxnLst/>
            <a:rect r="r" b="b" t="t" l="l"/>
            <a:pathLst>
              <a:path h="1688849" w="1563749">
                <a:moveTo>
                  <a:pt x="0" y="0"/>
                </a:moveTo>
                <a:lnTo>
                  <a:pt x="1563749" y="0"/>
                </a:lnTo>
                <a:lnTo>
                  <a:pt x="1563749" y="1688848"/>
                </a:lnTo>
                <a:lnTo>
                  <a:pt x="0" y="16888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093204" y="203326"/>
            <a:ext cx="1508996" cy="1717424"/>
          </a:xfrm>
          <a:custGeom>
            <a:avLst/>
            <a:gdLst/>
            <a:ahLst/>
            <a:cxnLst/>
            <a:rect r="r" b="b" t="t" l="l"/>
            <a:pathLst>
              <a:path h="1717424" w="1508996">
                <a:moveTo>
                  <a:pt x="0" y="0"/>
                </a:moveTo>
                <a:lnTo>
                  <a:pt x="1508996" y="0"/>
                </a:lnTo>
                <a:lnTo>
                  <a:pt x="1508996" y="1717423"/>
                </a:lnTo>
                <a:lnTo>
                  <a:pt x="0" y="1717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2967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531576" y="5334000"/>
            <a:ext cx="11091175" cy="659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6"/>
              </a:lnSpc>
              <a:spcBef>
                <a:spcPct val="0"/>
              </a:spcBef>
            </a:pPr>
            <a:r>
              <a:rPr lang="en-US" b="true" sz="4785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Edge-Driven, Cloud-Native Classroom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4375" y="7724775"/>
            <a:ext cx="5253401" cy="2071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22"/>
              </a:lnSpc>
            </a:pPr>
            <a:r>
              <a:rPr lang="en-US" b="true" sz="3185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GUIDE :</a:t>
            </a:r>
          </a:p>
          <a:p>
            <a:pPr algn="l">
              <a:lnSpc>
                <a:spcPts val="4204"/>
              </a:lnSpc>
            </a:pPr>
            <a:r>
              <a:rPr lang="en-US" sz="318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PRIYANKA R V , ASSISTANT PROFESSOR</a:t>
            </a:r>
          </a:p>
          <a:p>
            <a:pPr algn="l">
              <a:lnSpc>
                <a:spcPts val="4204"/>
              </a:lnSpc>
            </a:pPr>
            <a:r>
              <a:rPr lang="en-US" b="true" sz="3185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DEPT OF CSE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75872" y="7780914"/>
            <a:ext cx="8569303" cy="2515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7"/>
              </a:lnSpc>
            </a:pPr>
            <a:r>
              <a:rPr lang="en-US" sz="3058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MEMBERS :</a:t>
            </a:r>
          </a:p>
          <a:p>
            <a:pPr algn="l">
              <a:lnSpc>
                <a:spcPts val="4037"/>
              </a:lnSpc>
            </a:pPr>
            <a:r>
              <a:rPr lang="en-US" sz="3058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Ganesha M                         4NI22CS062</a:t>
            </a:r>
          </a:p>
          <a:p>
            <a:pPr algn="l">
              <a:lnSpc>
                <a:spcPts val="4039"/>
              </a:lnSpc>
            </a:pPr>
            <a:r>
              <a:rPr lang="en-US" sz="30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Harshitha S Shankar   4Ni22Cs076</a:t>
            </a:r>
          </a:p>
          <a:p>
            <a:pPr algn="l">
              <a:lnSpc>
                <a:spcPts val="4037"/>
              </a:lnSpc>
            </a:pPr>
            <a:r>
              <a:rPr lang="en-US" sz="3058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Hemanth Kumar R          4NI22CS079</a:t>
            </a:r>
          </a:p>
          <a:p>
            <a:pPr algn="l">
              <a:lnSpc>
                <a:spcPts val="4037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4372267" y="2322539"/>
            <a:ext cx="11730461" cy="35082136"/>
            <a:chOff x="0" y="0"/>
            <a:chExt cx="15640615" cy="4677618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238125"/>
              <a:ext cx="15640615" cy="465380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142"/>
                </a:lnSpc>
              </a:pPr>
              <a:r>
                <a:rPr lang="en-US" sz="16483" b="true">
                  <a:solidFill>
                    <a:srgbClr val="FFFFFF"/>
                  </a:solidFill>
                  <a:latin typeface="Raleway Heavy"/>
                  <a:ea typeface="Raleway Heavy"/>
                  <a:cs typeface="Raleway Heavy"/>
                  <a:sym typeface="Raleway Heavy"/>
                </a:rPr>
                <a:t>VERIL    C</a:t>
              </a:r>
            </a:p>
            <a:p>
              <a:pPr algn="l">
                <a:lnSpc>
                  <a:spcPts val="17142"/>
                </a:lnSpc>
              </a:pPr>
            </a:p>
            <a:p>
              <a:pPr algn="l">
                <a:lnSpc>
                  <a:spcPts val="17142"/>
                </a:lnSpc>
              </a:pPr>
            </a:p>
            <a:p>
              <a:pPr algn="l">
                <a:lnSpc>
                  <a:spcPts val="17142"/>
                </a:lnSpc>
              </a:pPr>
            </a:p>
            <a:p>
              <a:pPr algn="l">
                <a:lnSpc>
                  <a:spcPts val="17142"/>
                </a:lnSpc>
              </a:pPr>
            </a:p>
            <a:p>
              <a:pPr algn="l">
                <a:lnSpc>
                  <a:spcPts val="17142"/>
                </a:lnSpc>
              </a:pPr>
            </a:p>
            <a:p>
              <a:pPr algn="l">
                <a:lnSpc>
                  <a:spcPts val="17142"/>
                </a:lnSpc>
              </a:pPr>
            </a:p>
            <a:p>
              <a:pPr algn="l">
                <a:lnSpc>
                  <a:spcPts val="17142"/>
                </a:lnSpc>
              </a:pPr>
            </a:p>
            <a:p>
              <a:pPr algn="l">
                <a:lnSpc>
                  <a:spcPts val="17142"/>
                </a:lnSpc>
              </a:pPr>
            </a:p>
            <a:p>
              <a:pPr algn="l">
                <a:lnSpc>
                  <a:spcPts val="17142"/>
                </a:lnSpc>
              </a:pPr>
            </a:p>
            <a:p>
              <a:pPr algn="l">
                <a:lnSpc>
                  <a:spcPts val="17142"/>
                </a:lnSpc>
              </a:pPr>
            </a:p>
            <a:p>
              <a:pPr algn="l">
                <a:lnSpc>
                  <a:spcPts val="17142"/>
                </a:lnSpc>
              </a:pPr>
            </a:p>
            <a:p>
              <a:pPr algn="l">
                <a:lnSpc>
                  <a:spcPts val="17142"/>
                </a:lnSpc>
              </a:pPr>
            </a:p>
            <a:p>
              <a:pPr algn="l">
                <a:lnSpc>
                  <a:spcPts val="17142"/>
                </a:lnSpc>
              </a:pPr>
            </a:p>
            <a:p>
              <a:pPr algn="l">
                <a:lnSpc>
                  <a:spcPts val="17142"/>
                </a:lnSpc>
              </a:pPr>
            </a:p>
            <a:p>
              <a:pPr algn="l">
                <a:lnSpc>
                  <a:spcPts val="17142"/>
                </a:lnSpc>
                <a:spcBef>
                  <a:spcPct val="0"/>
                </a:spcBef>
              </a:pP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7534761" y="347519"/>
              <a:ext cx="3563930" cy="3576938"/>
            </a:xfrm>
            <a:custGeom>
              <a:avLst/>
              <a:gdLst/>
              <a:ahLst/>
              <a:cxnLst/>
              <a:rect r="r" b="b" t="t" l="l"/>
              <a:pathLst>
                <a:path h="3576938" w="3563930">
                  <a:moveTo>
                    <a:pt x="0" y="0"/>
                  </a:moveTo>
                  <a:lnTo>
                    <a:pt x="3563931" y="0"/>
                  </a:lnTo>
                  <a:lnTo>
                    <a:pt x="3563931" y="3576937"/>
                  </a:lnTo>
                  <a:lnTo>
                    <a:pt x="0" y="3576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4759881" y="6086144"/>
            <a:ext cx="8825389" cy="6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1"/>
              </a:lnSpc>
              <a:spcBef>
                <a:spcPct val="0"/>
              </a:spcBef>
            </a:pPr>
            <a:r>
              <a:rPr lang="en-US" b="true" sz="479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occupancy monitoring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79439" y="-10904054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61483" y="2951751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33475"/>
            <a:ext cx="6491005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Introduction: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6778" y="2392630"/>
            <a:ext cx="16273323" cy="7520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42619" indent="-421309" lvl="1">
              <a:lnSpc>
                <a:spcPts val="5463"/>
              </a:lnSpc>
              <a:buFont typeface="Arial"/>
              <a:buChar char="•"/>
            </a:pPr>
            <a:r>
              <a:rPr lang="en-US" sz="3902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Modern colleges face difficulties in tracking classroom availability in real time.</a:t>
            </a:r>
          </a:p>
          <a:p>
            <a:pPr algn="just" marL="842619" indent="-421309" lvl="1">
              <a:lnSpc>
                <a:spcPts val="5463"/>
              </a:lnSpc>
              <a:buFont typeface="Arial"/>
              <a:buChar char="•"/>
            </a:pPr>
            <a:r>
              <a:rPr lang="en-US" sz="3902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Traditional methods use manual registers or whiteboards, which are slow and error-prone.</a:t>
            </a:r>
          </a:p>
          <a:p>
            <a:pPr algn="just" marL="842619" indent="-421309" lvl="1">
              <a:lnSpc>
                <a:spcPts val="5463"/>
              </a:lnSpc>
              <a:buFont typeface="Arial"/>
              <a:buChar char="•"/>
            </a:pPr>
            <a:r>
              <a:rPr lang="en-US" sz="3902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Students and faculty often waste time searching for free classrooms.</a:t>
            </a:r>
          </a:p>
          <a:p>
            <a:pPr algn="just" marL="842619" indent="-421309" lvl="1">
              <a:lnSpc>
                <a:spcPts val="5463"/>
              </a:lnSpc>
              <a:buFont typeface="Arial"/>
              <a:buChar char="•"/>
            </a:pPr>
            <a:r>
              <a:rPr lang="en-US" sz="3902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An automated web-based system can provide real-time information, improving efficiency and resource utilization.</a:t>
            </a:r>
          </a:p>
          <a:p>
            <a:pPr algn="just" marL="842619" indent="-421309" lvl="1">
              <a:lnSpc>
                <a:spcPts val="5463"/>
              </a:lnSpc>
              <a:buFont typeface="Arial"/>
              <a:buChar char="•"/>
            </a:pPr>
            <a:r>
              <a:rPr lang="en-US" sz="3902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The project combines MERN stack web development with IoT support for live updates.</a:t>
            </a:r>
          </a:p>
          <a:p>
            <a:pPr algn="just">
              <a:lnSpc>
                <a:spcPts val="5463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2370952" y="-9154825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79439" y="-10904054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61483" y="2951751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0603" y="1315983"/>
            <a:ext cx="16692522" cy="834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42010" indent="-421005" lvl="1">
              <a:lnSpc>
                <a:spcPts val="6045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The integration of biometric authentication (R307 fingerprint sensor) ensures only authorized admins can modify occupancy status, enhancing system integrity.</a:t>
            </a:r>
          </a:p>
          <a:p>
            <a:pPr algn="just" marL="842010" indent="-421005" lvl="1">
              <a:lnSpc>
                <a:spcPts val="6045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System also helps to track the attendance of faculties.</a:t>
            </a:r>
          </a:p>
          <a:p>
            <a:pPr algn="just" marL="842010" indent="-421005" lvl="1">
              <a:lnSpc>
                <a:spcPts val="6045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Real-time data synchronization between IoT hardware and cloud database enables instant visibility across web and mobile interfaces for all stakeholders.</a:t>
            </a:r>
          </a:p>
          <a:p>
            <a:pPr algn="just" marL="842010" indent="-421005" lvl="1">
              <a:lnSpc>
                <a:spcPts val="6045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The proposed VERILOC system supports scalability, allowing deployment across multiple buildings with minimal hardware cost and centralized management.</a:t>
            </a:r>
          </a:p>
          <a:p>
            <a:pPr algn="just">
              <a:lnSpc>
                <a:spcPts val="6045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12370952" y="-9154825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103299" y="383341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84260" y="-4772934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90559"/>
            <a:ext cx="5674164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Objectives :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97413" y="3423468"/>
            <a:ext cx="4181174" cy="418117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33552" y="2581903"/>
            <a:ext cx="16273323" cy="6835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Build a web-based classroom availability tracking system for students and faculty.</a:t>
            </a:r>
          </a:p>
          <a:p>
            <a:pPr algn="just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Provide an admin panel to manage classroom data and schedules.</a:t>
            </a:r>
          </a:p>
          <a:p>
            <a:pPr algn="just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Ensure real-time updates of room occupancy.</a:t>
            </a:r>
          </a:p>
          <a:p>
            <a:pPr algn="just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Secure the system so only authorized users can update room status.</a:t>
            </a:r>
          </a:p>
          <a:p>
            <a:pPr algn="just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Reduce manual effort, errors, and time wasted in finding free classrooms.</a:t>
            </a:r>
          </a:p>
          <a:p>
            <a:pPr algn="just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Enable scalability to multiple departments and classrooms.</a:t>
            </a:r>
          </a:p>
          <a:p>
            <a:pPr algn="just">
              <a:lnSpc>
                <a:spcPts val="5459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-10800000">
            <a:off x="13944163" y="0"/>
            <a:ext cx="1544250" cy="2007889"/>
          </a:xfrm>
          <a:custGeom>
            <a:avLst/>
            <a:gdLst/>
            <a:ahLst/>
            <a:cxnLst/>
            <a:rect r="r" b="b" t="t" l="l"/>
            <a:pathLst>
              <a:path h="2007889" w="1544250">
                <a:moveTo>
                  <a:pt x="0" y="0"/>
                </a:moveTo>
                <a:lnTo>
                  <a:pt x="1544250" y="0"/>
                </a:lnTo>
                <a:lnTo>
                  <a:pt x="1544250" y="2007889"/>
                </a:lnTo>
                <a:lnTo>
                  <a:pt x="0" y="2007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103299" y="383341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82100" y="-8788684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75542" y="1133475"/>
            <a:ext cx="16063368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 </a:t>
            </a:r>
            <a:r>
              <a:rPr lang="en-US" b="true" sz="747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Existing System and Drawbacks</a:t>
            </a:r>
            <a:r>
              <a:rPr lang="en-US" b="true" sz="747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: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3765105" y="6560229"/>
            <a:ext cx="4181174" cy="418117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04900" y="2477128"/>
            <a:ext cx="16154400" cy="752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Existing System: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Manual or semi-manual tracking of classrooms.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Whiteboards, spreadsheets, or verbal communication are commonly used.</a:t>
            </a:r>
          </a:p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Drawbacks: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Time-consuming for students and faculty.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Prone to errors due to delayed updates.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No centralized database for real-time availability.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Not scalable for multiple classrooms or departments.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Difficult to track last-minute schedule changes.</a:t>
            </a:r>
          </a:p>
          <a:p>
            <a:pPr algn="l">
              <a:lnSpc>
                <a:spcPts val="545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103299" y="383341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28897" y="-1488162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33475"/>
            <a:ext cx="16854684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 Proposed System and Advantages: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3714052" y="-493266"/>
            <a:ext cx="4181174" cy="418117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46234" y="2703833"/>
            <a:ext cx="18565325" cy="752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Proposed System: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Web-based application built using MERN stack.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Admin panel for managing classroom schedules and availability.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Faculties attendance tracker using web app and hardware device.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Hardware device built with</a:t>
            </a: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 ESP32 ,fingerprint and lcd display.</a:t>
            </a:r>
          </a:p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Advantages: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Accurate and real-time classroom status.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Secure updates by authenticated users only.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Easy to use with intuitive interface.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Reduces time and effort spent searching for free classrooms.</a:t>
            </a:r>
          </a:p>
          <a:p>
            <a:pPr algn="l">
              <a:lnSpc>
                <a:spcPts val="54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14052" y="-493266"/>
            <a:ext cx="4181174" cy="418117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5"/>
                </a:lnSpc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396992" y="1683046"/>
          <a:ext cx="15703565" cy="7930983"/>
        </p:xfrm>
        <a:graphic>
          <a:graphicData uri="http://schemas.openxmlformats.org/drawingml/2006/table">
            <a:tbl>
              <a:tblPr/>
              <a:tblGrid>
                <a:gridCol w="4252247"/>
                <a:gridCol w="5222605"/>
                <a:gridCol w="6228714"/>
              </a:tblGrid>
              <a:tr h="9283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Title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Author and Published year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54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Occupancy Prediction in IoT-Enabled Smart Buildings: Technologies, Methods, and Future Directions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M. A. Al-Garadi et al., Sensors (MDPI), 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ML/DL methods for classroom occupancy prediction using IoT sensors like WiFi/CO2, with cloud dashboards for real-time visualization.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867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Towards Smart Education through Internet of Things: A Survey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N. A. Alshammari et al., ACM Computing Surveys, 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Comprehensive survey on IoT-AI integration in smart classrooms for attendance and resource allocation with biometric authentication.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73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Smart Classrooms: How Sensors and AI Are Shaping Educational Paradigms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Y. Zhang et al., Sensors (MDPI), 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Sensor-AI fusion for classroom monitoring, including fingerprint-based attendance to reduce substitute fraud by 40%.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65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An Intelligent Classroom Management System Based on AI + IoT Technology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Y. Li et al., IEEE ICAICA, 2023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AI-IoT framework for classroom control with biometric enrollment and real-time status updates via NB-IoT/WiFi.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00471" y="388135"/>
            <a:ext cx="16854684" cy="1028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Literature Survey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28897" y="-1488162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714052" y="-493266"/>
            <a:ext cx="4181174" cy="418117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5"/>
                </a:lnSpc>
              </a:pP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378951" y="1480795"/>
          <a:ext cx="15568199" cy="7844180"/>
        </p:xfrm>
        <a:graphic>
          <a:graphicData uri="http://schemas.openxmlformats.org/drawingml/2006/table">
            <a:tbl>
              <a:tblPr/>
              <a:tblGrid>
                <a:gridCol w="3996543"/>
                <a:gridCol w="5316328"/>
                <a:gridCol w="6255328"/>
              </a:tblGrid>
              <a:tr h="9284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Title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Author and Published year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277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Design and validation of IoT based smart classroom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M. Szczurek et al., Multimedia Tools and Applications (Springer), 2023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IoT sensors for multi-occupant detection in classrooms using privacy-preserving techniques like CO2/temperature monitoring.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24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Monitoring Indoor Air Quality and Occupancy with an IoT System: Evaluation in a Classroom Environment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J. M. Corchado et al., IEEE Sensors Conference, 2023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Low-cost IoT sensors for classroom occupancy and IAQ, achieving 25% accuracy improvement but requiring authentication enhancements.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277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 Development of an IoT-Based Connected University System: Progress Report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M. Szczurek et al., Sensors (MDPI), 2023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IoT subsystems for smart classrooms including occupancy tracking and environmental monitoring with web/mobile interfaces.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277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AI-powered Biometrics for Internet of Things Security: A Review and Future Vision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M. A. Al-Garadi et al., Internet of Things (ScienceDirect), 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Lightweight biometric (fingerprint) authentication for IoT in educational settings, focusing on secure classroom access.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103299" y="383341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28897" y="-1488162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23925" y="622004"/>
            <a:ext cx="16854684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System Requirements: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3714052" y="-493266"/>
            <a:ext cx="4181174" cy="418117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00125" y="2022865"/>
            <a:ext cx="16259175" cy="752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Hardware Requirements: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IoT device : ESP32 microcontroller, fingerprint sensor, LCD display, Push buttons , jumper wires.</a:t>
            </a:r>
          </a:p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Software Requirements: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Backend: Node.js v18+, Express, MongoDB v6+, Mongoose, JWT, bcrypt.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Frontend: React v18+, Tailwind CSS, Axios, React Router, Chart.js.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Hardware: Arduino IDE v2+, Adafruit libraries (Fingerprint, WiFi, Http)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Tools: Postman for API testing, Git for version control.</a:t>
            </a:r>
          </a:p>
          <a:p>
            <a:pPr algn="l">
              <a:lnSpc>
                <a:spcPts val="545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103299" y="383341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28897" y="-1488162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714052" y="-493266"/>
            <a:ext cx="4181174" cy="418117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76325" y="1581778"/>
            <a:ext cx="14602371" cy="752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Functional Requirements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Enroll fingerprints with 4-digit ID validation and duplicate check.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Authenticate admins and update room status via API.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Manage admins/rooms via dashboard (CRUD).</a:t>
            </a:r>
          </a:p>
          <a:p>
            <a:pPr algn="l">
              <a:lnSpc>
                <a:spcPts val="5459"/>
              </a:lnSpc>
            </a:pPr>
          </a:p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Non-Functional Requirements: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Security: JWT, unique fingerprintID, hashed passwords.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Usability: Responsive UI, LCD feedback.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Scalability: Support 1000+ rooms via MongoDB.</a:t>
            </a:r>
          </a:p>
          <a:p>
            <a:pPr algn="l">
              <a:lnSpc>
                <a:spcPts val="545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8607" y="507704"/>
            <a:ext cx="10086165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System Design: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2319142" y="-8788684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61026" y="441029"/>
            <a:ext cx="8855371" cy="8855371"/>
          </a:xfrm>
          <a:custGeom>
            <a:avLst/>
            <a:gdLst/>
            <a:ahLst/>
            <a:cxnLst/>
            <a:rect r="r" b="b" t="t" l="l"/>
            <a:pathLst>
              <a:path h="8855371" w="8855371">
                <a:moveTo>
                  <a:pt x="0" y="0"/>
                </a:moveTo>
                <a:lnTo>
                  <a:pt x="8855371" y="0"/>
                </a:lnTo>
                <a:lnTo>
                  <a:pt x="8855371" y="8855371"/>
                </a:lnTo>
                <a:lnTo>
                  <a:pt x="0" y="88553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480074" y="1735962"/>
            <a:ext cx="7641447" cy="7891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0611" indent="-325306" lvl="1">
              <a:lnSpc>
                <a:spcPts val="4851"/>
              </a:lnSpc>
              <a:buFont typeface="Arial"/>
              <a:buChar char="•"/>
            </a:pPr>
            <a:r>
              <a:rPr lang="en-US" sz="3013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Frontend (React + Tailwind CSS) → Real-time room status dashboard with admin dashboard.</a:t>
            </a:r>
          </a:p>
          <a:p>
            <a:pPr algn="l" marL="650611" indent="-325306" lvl="1">
              <a:lnSpc>
                <a:spcPts val="4851"/>
              </a:lnSpc>
              <a:buFont typeface="Arial"/>
              <a:buChar char="•"/>
            </a:pPr>
            <a:r>
              <a:rPr lang="en-US" sz="3013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Server (Node.js + Express + MongoDB) → RESTful API validates fingerprintID and admin authorization before updating room status.</a:t>
            </a:r>
          </a:p>
          <a:p>
            <a:pPr algn="l" marL="650611" indent="-325306" lvl="1">
              <a:lnSpc>
                <a:spcPts val="4851"/>
              </a:lnSpc>
              <a:buFont typeface="Arial"/>
              <a:buChar char="•"/>
            </a:pPr>
            <a:r>
              <a:rPr lang="en-US" sz="3013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Hardware (ESP32 + R307 + LCD) → Edge device performs local fingerprint matching and displays feedback on LCD, sending only verified updates to server via Http Protocol.</a:t>
            </a:r>
          </a:p>
          <a:p>
            <a:pPr algn="l">
              <a:lnSpc>
                <a:spcPts val="4851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239250" y="9563949"/>
            <a:ext cx="8213600" cy="547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2"/>
              </a:lnSpc>
              <a:spcBef>
                <a:spcPct val="0"/>
              </a:spcBef>
            </a:pPr>
            <a:r>
              <a:rPr lang="en-US" sz="399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Fig :- Veriloc system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14052" y="-902841"/>
            <a:ext cx="4181174" cy="418117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512879" y="2012187"/>
            <a:ext cx="12202088" cy="7794084"/>
          </a:xfrm>
          <a:custGeom>
            <a:avLst/>
            <a:gdLst/>
            <a:ahLst/>
            <a:cxnLst/>
            <a:rect r="r" b="b" t="t" l="l"/>
            <a:pathLst>
              <a:path h="7794084" w="12202088">
                <a:moveTo>
                  <a:pt x="0" y="0"/>
                </a:moveTo>
                <a:lnTo>
                  <a:pt x="12202088" y="0"/>
                </a:lnTo>
                <a:lnTo>
                  <a:pt x="12202088" y="7794084"/>
                </a:lnTo>
                <a:lnTo>
                  <a:pt x="0" y="77940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3796" y="645805"/>
            <a:ext cx="16854684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UseCase Diagram: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7121" y="3524038"/>
            <a:ext cx="6492763" cy="387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78"/>
              </a:lnSpc>
            </a:pPr>
            <a:r>
              <a:rPr lang="en-US" sz="3713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System Entities :</a:t>
            </a:r>
          </a:p>
          <a:p>
            <a:pPr algn="l" marL="672201" indent="-336100" lvl="1">
              <a:lnSpc>
                <a:spcPts val="5012"/>
              </a:lnSpc>
              <a:buFont typeface="Arial"/>
              <a:buChar char="•"/>
            </a:pPr>
            <a:r>
              <a:rPr lang="en-US" sz="3113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Admin</a:t>
            </a:r>
          </a:p>
          <a:p>
            <a:pPr algn="l" marL="672201" indent="-336100" lvl="1">
              <a:lnSpc>
                <a:spcPts val="5012"/>
              </a:lnSpc>
              <a:buFont typeface="Arial"/>
              <a:buChar char="•"/>
            </a:pPr>
            <a:r>
              <a:rPr lang="en-US" sz="3113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Student</a:t>
            </a:r>
          </a:p>
          <a:p>
            <a:pPr algn="l" marL="672201" indent="-336100" lvl="1">
              <a:lnSpc>
                <a:spcPts val="5012"/>
              </a:lnSpc>
              <a:buFont typeface="Arial"/>
              <a:buChar char="•"/>
            </a:pPr>
            <a:r>
              <a:rPr lang="en-US" sz="3113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ESP32 MC</a:t>
            </a:r>
          </a:p>
          <a:p>
            <a:pPr algn="l" marL="672201" indent="-336100" lvl="1">
              <a:lnSpc>
                <a:spcPts val="5012"/>
              </a:lnSpc>
              <a:buFont typeface="Arial"/>
              <a:buChar char="•"/>
            </a:pPr>
            <a:r>
              <a:rPr lang="en-US" sz="3113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Node.js Server</a:t>
            </a:r>
          </a:p>
          <a:p>
            <a:pPr algn="l">
              <a:lnSpc>
                <a:spcPts val="5012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6257" y="802979"/>
            <a:ext cx="16263043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System Implementation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2319142" y="-8788684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8912" y="1567013"/>
            <a:ext cx="16425481" cy="8143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7"/>
              </a:lnSpc>
            </a:pPr>
          </a:p>
          <a:p>
            <a:pPr algn="l" marL="792257" indent="-396128" lvl="1">
              <a:lnSpc>
                <a:spcPts val="5907"/>
              </a:lnSpc>
              <a:buFont typeface="Arial"/>
              <a:buChar char="•"/>
            </a:pPr>
            <a:r>
              <a:rPr lang="en-US" sz="366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React + Tailwind: Responsive dashboard with live RoomList &amp; Chart.js g</a:t>
            </a:r>
          </a:p>
          <a:p>
            <a:pPr algn="l" marL="792257" indent="-396128" lvl="1">
              <a:lnSpc>
                <a:spcPts val="5907"/>
              </a:lnSpc>
              <a:buFont typeface="Arial"/>
              <a:buChar char="•"/>
            </a:pPr>
            <a:r>
              <a:rPr lang="en-US" sz="366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Node.js + Express: Validates ID &amp; authorization → Updates MongoDB </a:t>
            </a:r>
          </a:p>
          <a:p>
            <a:pPr algn="l" marL="792257" indent="-396128" lvl="1">
              <a:lnSpc>
                <a:spcPts val="5907"/>
              </a:lnSpc>
              <a:buFont typeface="Arial"/>
              <a:buChar char="•"/>
            </a:pPr>
            <a:r>
              <a:rPr lang="en-US" sz="366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JWT + bcrypt: Secure admin login and session management </a:t>
            </a:r>
          </a:p>
          <a:p>
            <a:pPr algn="l" marL="792257" indent="-396128" lvl="1">
              <a:lnSpc>
                <a:spcPts val="5907"/>
              </a:lnSpc>
              <a:buFont typeface="Arial"/>
              <a:buChar char="•"/>
            </a:pPr>
            <a:r>
              <a:rPr lang="en-US" sz="366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ESP32 + R307: Fingerprint enrollment &amp; matching with 4-digit ID (1000–9999)  </a:t>
            </a:r>
          </a:p>
          <a:p>
            <a:pPr algn="l" marL="792257" indent="-396128" lvl="1">
              <a:lnSpc>
                <a:spcPts val="5907"/>
              </a:lnSpc>
              <a:buFont typeface="Arial"/>
              <a:buChar char="•"/>
            </a:pPr>
            <a:r>
              <a:rPr lang="en-US" sz="366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LCD Display: Real-time feedback (e.g., “Access Granted ID: 1001”)  </a:t>
            </a:r>
          </a:p>
          <a:p>
            <a:pPr algn="l" marL="792257" indent="-396128" lvl="1">
              <a:lnSpc>
                <a:spcPts val="5907"/>
              </a:lnSpc>
              <a:buFont typeface="Arial"/>
              <a:buChar char="•"/>
            </a:pPr>
            <a:r>
              <a:rPr lang="en-US" sz="366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WiFi + HTTP POST: Sends {room, status, fingerprintID} to /api/rooms/update  </a:t>
            </a:r>
          </a:p>
          <a:p>
            <a:pPr algn="l">
              <a:lnSpc>
                <a:spcPts val="5907"/>
              </a:lnSpc>
            </a:pPr>
            <a:r>
              <a:rPr lang="en-US" sz="366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    Code(github url) :- </a:t>
            </a:r>
            <a:r>
              <a:rPr lang="en-US" sz="3669" u="sng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  <a:hlinkClick r:id="rId3" tooltip="https://github.com/Hemanth-4301/veriloc.git"/>
              </a:rPr>
              <a:t>https://github.com/Hemanth-4301/veriloc.git</a:t>
            </a:r>
          </a:p>
          <a:p>
            <a:pPr algn="l">
              <a:lnSpc>
                <a:spcPts val="5907"/>
              </a:lnSpc>
              <a:spcBef>
                <a:spcPct val="0"/>
              </a:spcBef>
            </a:pPr>
            <a:r>
              <a:rPr lang="en-US" sz="366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    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103299" y="383341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28897" y="-1488162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714052" y="-493266"/>
            <a:ext cx="4181174" cy="418117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885825" y="1597321"/>
          <a:ext cx="17073957" cy="8486775"/>
        </p:xfrm>
        <a:graphic>
          <a:graphicData uri="http://schemas.openxmlformats.org/drawingml/2006/table">
            <a:tbl>
              <a:tblPr/>
              <a:tblGrid>
                <a:gridCol w="2955170"/>
                <a:gridCol w="3999505"/>
                <a:gridCol w="3979426"/>
                <a:gridCol w="3675188"/>
                <a:gridCol w="2464667"/>
              </a:tblGrid>
              <a:tr h="7845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User Group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Test Scenario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Expected Behavior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User Feedback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Status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03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Faculty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Fingerprint-based room authentication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Immediate recognition and status update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Authentication smooth and quick (avg. &lt;1.5s)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Accepted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03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Faculty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OLED status display readability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Clear “Occupied/Vacant” display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Text clearly visible in all lighting conditions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Accepted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03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IoT Device Operator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Network recovery 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Auto-reconnect to WiFi after disconnect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Device reconnects within 3–5 seconds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Accepted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03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Maintenance Staff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System error handling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Display fallback messages during failures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Clear “Offline” messages shown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Accepted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03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Admin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Dashboard login and token handling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Secure login and session persistence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Login smooth; tokens auto-refreshed properly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Accepted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03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Admin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Room creation and status view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Create/view/update room info in real time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Very responsive; all updates reflect instantly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Accepted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03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General Users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Mobile dashboard usability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Smooth access on tablets/phones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Interface responsive and fast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Accepted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885825" y="298154"/>
            <a:ext cx="16854684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System Testing :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14052" y="-493266"/>
            <a:ext cx="4181174" cy="418117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10008" y="2901342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133475"/>
            <a:ext cx="16854684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Results of the System: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6257" y="612479"/>
            <a:ext cx="10086165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References :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2319142" y="-8788684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0709" y="1692571"/>
            <a:ext cx="16648591" cy="825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4345" indent="-342173" lvl="1">
              <a:lnSpc>
                <a:spcPts val="4659"/>
              </a:lnSpc>
              <a:buFont typeface="Arial"/>
              <a:buChar char="•"/>
            </a:pPr>
            <a:r>
              <a:rPr lang="en-US" sz="3169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Al-Garadi et al. (2024) A study on IoT-based occupancy prediction in smart buildings using machine learning. The system integrates real-time sensor data with cloud dashboards for classroom monitoring.</a:t>
            </a:r>
          </a:p>
          <a:p>
            <a:pPr algn="l" marL="684345" indent="-342173" lvl="1">
              <a:lnSpc>
                <a:spcPts val="4659"/>
              </a:lnSpc>
              <a:buFont typeface="Arial"/>
              <a:buChar char="•"/>
            </a:pPr>
            <a:r>
              <a:rPr lang="en-US" sz="3169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Alshammari et al. (2025) A comprehensive survey on IoT applications in smart education systems. It highlights biometric authentication and real-time resource management in modern classrooms.</a:t>
            </a:r>
          </a:p>
          <a:p>
            <a:pPr algn="l" marL="684345" indent="-342173" lvl="1">
              <a:lnSpc>
                <a:spcPts val="4659"/>
              </a:lnSpc>
              <a:buFont typeface="Arial"/>
              <a:buChar char="•"/>
            </a:pPr>
            <a:r>
              <a:rPr lang="en-US" sz="3169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Zhang et al. (2024) Research on AI and sensor fusion for smart classroom environments. It demonstrates fingerprint-based attendance systems reducing fraud by up to 40%.</a:t>
            </a:r>
          </a:p>
          <a:p>
            <a:pPr algn="l" marL="684345" indent="-342173" lvl="1">
              <a:lnSpc>
                <a:spcPts val="4659"/>
              </a:lnSpc>
              <a:buFont typeface="Arial"/>
              <a:buChar char="•"/>
            </a:pPr>
            <a:r>
              <a:rPr lang="en-US" sz="3169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Li et al. (2023) An AI+IoT framework for intelligent classroom management. It uses ESP32 and biometric sensors for secure, real-time status updates.</a:t>
            </a:r>
          </a:p>
          <a:p>
            <a:pPr algn="l" marL="684345" indent="-342173" lvl="1">
              <a:lnSpc>
                <a:spcPts val="4659"/>
              </a:lnSpc>
              <a:buFont typeface="Arial"/>
              <a:buChar char="•"/>
            </a:pPr>
            <a:r>
              <a:rPr lang="en-US" sz="3169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Szczurek et al. (2023) Validation of IoT-based smart classroom systems using environmental sensors. The design ensures privacy-preserving occupancy detection.</a:t>
            </a:r>
          </a:p>
          <a:p>
            <a:pPr algn="l">
              <a:lnSpc>
                <a:spcPts val="4659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319142" y="-8788684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1159" y="828675"/>
            <a:ext cx="17463203" cy="8599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0132" indent="-395066" lvl="1">
              <a:lnSpc>
                <a:spcPts val="5379"/>
              </a:lnSpc>
              <a:buFont typeface="Arial"/>
              <a:buChar char="•"/>
            </a:pPr>
            <a:r>
              <a:rPr lang="en-US" sz="3659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Corchado et al. (2023) Evaluation of low-cost IoT systems for indoor air quality and occupancy monitoring. The study reports 25% improved accuracy in classroom settings.</a:t>
            </a:r>
          </a:p>
          <a:p>
            <a:pPr algn="l" marL="790132" indent="-395066" lvl="1">
              <a:lnSpc>
                <a:spcPts val="5379"/>
              </a:lnSpc>
              <a:buFont typeface="Arial"/>
              <a:buChar char="•"/>
            </a:pPr>
            <a:r>
              <a:rPr lang="en-US" sz="3659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Szczurek et al. (2023) A progress report on IoT infrastructure for connected university campuses. It includes web interfaces for real-time room status tracking</a:t>
            </a:r>
          </a:p>
          <a:p>
            <a:pPr algn="l" marL="790132" indent="-395066" lvl="1">
              <a:lnSpc>
                <a:spcPts val="5379"/>
              </a:lnSpc>
              <a:buFont typeface="Arial"/>
              <a:buChar char="•"/>
            </a:pPr>
            <a:r>
              <a:rPr lang="en-US" sz="3659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Al-Garadi et al. (2024) A review of AI-powered biometric authentication in IoT devices. It focuses on lightweight fingerprint verification for edge security.</a:t>
            </a:r>
          </a:p>
          <a:p>
            <a:pPr algn="l" marL="684404" indent="-342202" lvl="1">
              <a:lnSpc>
                <a:spcPts val="4659"/>
              </a:lnSpc>
              <a:buFont typeface="Arial"/>
              <a:buChar char="•"/>
            </a:pPr>
            <a:r>
              <a:rPr lang="en-US" sz="317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Boe et al. (2024) An automated biometric attendance system using real-time recognition. The solution supports cloud logging and instant status updates.</a:t>
            </a:r>
          </a:p>
          <a:p>
            <a:pPr algn="l" marL="790132" indent="-395066" lvl="1">
              <a:lnSpc>
                <a:spcPts val="5379"/>
              </a:lnSpc>
              <a:buFont typeface="Arial"/>
              <a:buChar char="•"/>
            </a:pPr>
            <a:r>
              <a:rPr lang="en-US" sz="3659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Alqudah et al. (2023) A smart attendance system using biometric authentication and cloud integration. It enables real-time classroom status management via a web dashboard.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39189" y="3434828"/>
            <a:ext cx="12422388" cy="2727960"/>
            <a:chOff x="0" y="0"/>
            <a:chExt cx="1850635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0635" cy="406400"/>
            </a:xfrm>
            <a:custGeom>
              <a:avLst/>
              <a:gdLst/>
              <a:ahLst/>
              <a:cxnLst/>
              <a:rect r="r" b="b" t="t" l="l"/>
              <a:pathLst>
                <a:path h="406400" w="1850635">
                  <a:moveTo>
                    <a:pt x="1647435" y="0"/>
                  </a:moveTo>
                  <a:cubicBezTo>
                    <a:pt x="1759659" y="0"/>
                    <a:pt x="1850635" y="90976"/>
                    <a:pt x="1850635" y="203200"/>
                  </a:cubicBezTo>
                  <a:cubicBezTo>
                    <a:pt x="1850635" y="315424"/>
                    <a:pt x="1759659" y="406400"/>
                    <a:pt x="164743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14300" cap="sq">
              <a:gradFill>
                <a:gsLst>
                  <a:gs pos="0">
                    <a:srgbClr val="C6269E">
                      <a:alpha val="100000"/>
                    </a:srgbClr>
                  </a:gs>
                  <a:gs pos="100000">
                    <a:srgbClr val="DDBAFF">
                      <a:alpha val="12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850635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140649" y="5426888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65597" y="3891885"/>
            <a:ext cx="5848350" cy="202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65"/>
              </a:lnSpc>
              <a:spcBef>
                <a:spcPct val="0"/>
              </a:spcBef>
            </a:pPr>
            <a:r>
              <a:rPr lang="en-US" b="true" sz="14678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Thank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13947" y="3891885"/>
            <a:ext cx="4972189" cy="202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65"/>
              </a:lnSpc>
              <a:spcBef>
                <a:spcPct val="0"/>
              </a:spcBef>
            </a:pPr>
            <a:r>
              <a:rPr lang="en-US" b="true" sz="14678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DAGw9zXMquY</dc:identifier>
  <dcterms:modified xsi:type="dcterms:W3CDTF">2011-08-01T06:04:30Z</dcterms:modified>
  <cp:revision>1</cp:revision>
  <dc:title>Veriloc</dc:title>
</cp:coreProperties>
</file>